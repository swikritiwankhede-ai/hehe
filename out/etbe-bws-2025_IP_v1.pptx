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742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7th Edition · #ETBWS2025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World Summit 2025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Reimagining Marketing In The Age of AI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Jul 2025 · Grand Hyatt, BKC, Mumbai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5852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Post-event report · v1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742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#ETBWS2025   Brand World Summit 2025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as of 2025-07-05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42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day at a glance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28900" cy="2011680"/>
          </a:xfrm>
          <a:prstGeom prst="roundRect">
            <a:avLst>
              <a:gd name="adj" fmla="val 3636"/>
            </a:avLst>
          </a:prstGeom>
          <a:solidFill>
            <a:srgbClr val="FCE8E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54480"/>
            <a:ext cx="235458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2710282"/>
            <a:ext cx="235458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Registered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60420" y="1463040"/>
            <a:ext cx="2628900" cy="2011680"/>
          </a:xfrm>
          <a:prstGeom prst="roundRect">
            <a:avLst>
              <a:gd name="adj" fmla="val 3636"/>
            </a:avLst>
          </a:prstGeom>
          <a:solidFill>
            <a:srgbClr val="FCE8EC"/>
          </a:solidFill>
          <a:ln/>
        </p:spPr>
      </p:sp>
      <p:sp>
        <p:nvSpPr>
          <p:cNvPr id="10" name="Text 8"/>
          <p:cNvSpPr/>
          <p:nvPr/>
        </p:nvSpPr>
        <p:spPr>
          <a:xfrm>
            <a:off x="3497580" y="1554480"/>
            <a:ext cx="235458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97580" y="2710282"/>
            <a:ext cx="235458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Attended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463040"/>
            <a:ext cx="2628900" cy="2011680"/>
          </a:xfrm>
          <a:prstGeom prst="roundRect">
            <a:avLst>
              <a:gd name="adj" fmla="val 3636"/>
            </a:avLst>
          </a:prstGeom>
          <a:solidFill>
            <a:srgbClr val="FCE8EC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554480"/>
            <a:ext cx="235458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09360" y="2710282"/>
            <a:ext cx="235458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Show-up rate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83980" y="1463040"/>
            <a:ext cx="2628900" cy="2011680"/>
          </a:xfrm>
          <a:prstGeom prst="roundRect">
            <a:avLst>
              <a:gd name="adj" fmla="val 3636"/>
            </a:avLst>
          </a:prstGeom>
          <a:solidFill>
            <a:srgbClr val="FCE8EC"/>
          </a:solidFill>
          <a:ln/>
        </p:spPr>
      </p:sp>
      <p:sp>
        <p:nvSpPr>
          <p:cNvPr id="16" name="Text 14"/>
          <p:cNvSpPr/>
          <p:nvPr/>
        </p:nvSpPr>
        <p:spPr>
          <a:xfrm>
            <a:off x="9121140" y="1554480"/>
            <a:ext cx="235458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121140" y="2710282"/>
            <a:ext cx="235458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Organisations in the room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2628900" cy="2011680"/>
          </a:xfrm>
          <a:prstGeom prst="roundRect">
            <a:avLst>
              <a:gd name="adj" fmla="val 3636"/>
            </a:avLst>
          </a:prstGeom>
          <a:solidFill>
            <a:srgbClr val="FCE8EC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749040"/>
            <a:ext cx="235458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85800" y="4904842"/>
            <a:ext cx="235458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Speakers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60420" y="3657600"/>
            <a:ext cx="2628900" cy="2011680"/>
          </a:xfrm>
          <a:prstGeom prst="roundRect">
            <a:avLst>
              <a:gd name="adj" fmla="val 3636"/>
            </a:avLst>
          </a:prstGeom>
          <a:solidFill>
            <a:srgbClr val="FCE8EC"/>
          </a:solidFill>
          <a:ln/>
        </p:spPr>
      </p:sp>
      <p:sp>
        <p:nvSpPr>
          <p:cNvPr id="22" name="Text 20"/>
          <p:cNvSpPr/>
          <p:nvPr/>
        </p:nvSpPr>
        <p:spPr>
          <a:xfrm>
            <a:off x="3497580" y="3749040"/>
            <a:ext cx="235458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497580" y="4904842"/>
            <a:ext cx="235458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Sessions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3657600"/>
            <a:ext cx="2628900" cy="2011680"/>
          </a:xfrm>
          <a:prstGeom prst="roundRect">
            <a:avLst>
              <a:gd name="adj" fmla="val 3636"/>
            </a:avLst>
          </a:prstGeom>
          <a:solidFill>
            <a:srgbClr val="FCE8EC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3749040"/>
            <a:ext cx="235458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309360" y="4904842"/>
            <a:ext cx="235458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Partners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983980" y="3657600"/>
            <a:ext cx="2628900" cy="2011680"/>
          </a:xfrm>
          <a:prstGeom prst="roundRect">
            <a:avLst>
              <a:gd name="adj" fmla="val 3636"/>
            </a:avLst>
          </a:prstGeom>
          <a:solidFill>
            <a:srgbClr val="FCE8EC"/>
          </a:solidFill>
          <a:ln/>
        </p:spPr>
      </p:sp>
      <p:sp>
        <p:nvSpPr>
          <p:cNvPr id="28" name="Text 26"/>
          <p:cNvSpPr/>
          <p:nvPr/>
        </p:nvSpPr>
        <p:spPr>
          <a:xfrm>
            <a:off x="9121140" y="3749040"/>
            <a:ext cx="235458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625K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9121140" y="4904842"/>
            <a:ext cx="235458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Social impressions and views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Sources: OneWorld registrations and check-in · OneWorld speakers, agenda and sponsors · platform analytics exports. Data as of 2025-07-05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742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#ETBWS2025   Brand World Summit 2025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as of 2025-07-05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42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promised, what we delivered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CE8E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54480"/>
            <a:ext cx="329184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2710282"/>
            <a:ext cx="329184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Attendees promised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CE8EC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1554480"/>
            <a:ext cx="329184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434840" y="2710282"/>
            <a:ext cx="329184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Attendees in the room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46304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CE8EC"/>
          </a:solidFill>
          <a:ln/>
        </p:spPr>
      </p:sp>
      <p:sp>
        <p:nvSpPr>
          <p:cNvPr id="13" name="Text 11"/>
          <p:cNvSpPr/>
          <p:nvPr/>
        </p:nvSpPr>
        <p:spPr>
          <a:xfrm>
            <a:off x="8183880" y="1554480"/>
            <a:ext cx="329184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26% of target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183880" y="2710282"/>
            <a:ext cx="329184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Against target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CE8EC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749040"/>
            <a:ext cx="329184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85800" y="4904842"/>
            <a:ext cx="329184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Speakers promised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97680" y="365760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CE8EC"/>
          </a:solidFill>
          <a:ln/>
        </p:spPr>
      </p:sp>
      <p:sp>
        <p:nvSpPr>
          <p:cNvPr id="19" name="Text 17"/>
          <p:cNvSpPr/>
          <p:nvPr/>
        </p:nvSpPr>
        <p:spPr>
          <a:xfrm>
            <a:off x="4434840" y="3749040"/>
            <a:ext cx="329184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434840" y="4904842"/>
            <a:ext cx="329184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Speakers on stage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365760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CE8EC"/>
          </a:solidFill>
          <a:ln/>
        </p:spPr>
      </p:sp>
      <p:sp>
        <p:nvSpPr>
          <p:cNvPr id="22" name="Text 20"/>
          <p:cNvSpPr/>
          <p:nvPr/>
        </p:nvSpPr>
        <p:spPr>
          <a:xfrm>
            <a:off x="8183880" y="3749040"/>
            <a:ext cx="329184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 of target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183880" y="4904842"/>
            <a:ext cx="329184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Against target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742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#ETBWS2025   Brand World Summit 2025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as of 2025-07-05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42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28% of the room were CXOs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Attendees by seniority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2165299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CXO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13939" y="2034540"/>
            <a:ext cx="2714060" cy="365760"/>
          </a:xfrm>
          <a:prstGeom prst="rect">
            <a:avLst/>
          </a:prstGeom>
          <a:solidFill>
            <a:srgbClr val="E7425F"/>
          </a:solidFill>
          <a:ln/>
        </p:spPr>
      </p:sp>
      <p:sp>
        <p:nvSpPr>
          <p:cNvPr id="9" name="Text 7"/>
          <p:cNvSpPr/>
          <p:nvPr/>
        </p:nvSpPr>
        <p:spPr>
          <a:xfrm>
            <a:off x="6164885" y="1737360"/>
            <a:ext cx="115031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73 (28%)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2165299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13939" y="2994660"/>
            <a:ext cx="1635872" cy="365760"/>
          </a:xfrm>
          <a:prstGeom prst="rect">
            <a:avLst/>
          </a:prstGeom>
          <a:solidFill>
            <a:srgbClr val="E7425F"/>
          </a:solidFill>
          <a:ln/>
        </p:spPr>
      </p:sp>
      <p:sp>
        <p:nvSpPr>
          <p:cNvPr id="12" name="Text 10"/>
          <p:cNvSpPr/>
          <p:nvPr/>
        </p:nvSpPr>
        <p:spPr>
          <a:xfrm>
            <a:off x="6164885" y="2697480"/>
            <a:ext cx="115031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44 (17%)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2165299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Director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13939" y="3954780"/>
            <a:ext cx="1933303" cy="365760"/>
          </a:xfrm>
          <a:prstGeom prst="rect">
            <a:avLst/>
          </a:prstGeom>
          <a:solidFill>
            <a:srgbClr val="E742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64885" y="3657600"/>
            <a:ext cx="115031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52 (20%)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617720"/>
            <a:ext cx="2165299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Manager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13939" y="4914900"/>
            <a:ext cx="3383280" cy="365760"/>
          </a:xfrm>
          <a:prstGeom prst="rect">
            <a:avLst/>
          </a:prstGeom>
          <a:solidFill>
            <a:srgbClr val="E7425F"/>
          </a:solidFill>
          <a:ln/>
        </p:spPr>
      </p:sp>
      <p:sp>
        <p:nvSpPr>
          <p:cNvPr id="18" name="Text 16"/>
          <p:cNvSpPr/>
          <p:nvPr/>
        </p:nvSpPr>
        <p:spPr>
          <a:xfrm>
            <a:off x="6164885" y="4617720"/>
            <a:ext cx="115031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91 (35%)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63840" y="1463040"/>
            <a:ext cx="3749040" cy="1828800"/>
          </a:xfrm>
          <a:prstGeom prst="roundRect">
            <a:avLst>
              <a:gd name="adj" fmla="val 4000"/>
            </a:avLst>
          </a:prstGeom>
          <a:solidFill>
            <a:srgbClr val="FCE8EC"/>
          </a:solidFill>
          <a:ln/>
        </p:spPr>
      </p:sp>
      <p:sp>
        <p:nvSpPr>
          <p:cNvPr id="20" name="Text 18"/>
          <p:cNvSpPr/>
          <p:nvPr/>
        </p:nvSpPr>
        <p:spPr>
          <a:xfrm>
            <a:off x="8001000" y="15544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001000" y="2596896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CXOs in the room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63840" y="3474720"/>
            <a:ext cx="3749040" cy="1828800"/>
          </a:xfrm>
          <a:prstGeom prst="roundRect">
            <a:avLst>
              <a:gd name="adj" fmla="val 4000"/>
            </a:avLst>
          </a:prstGeom>
          <a:solidFill>
            <a:srgbClr val="FCE8EC"/>
          </a:solidFill>
          <a:ln/>
        </p:spPr>
      </p:sp>
      <p:sp>
        <p:nvSpPr>
          <p:cNvPr id="23" name="Text 21"/>
          <p:cNvSpPr/>
          <p:nvPr/>
        </p:nvSpPr>
        <p:spPr>
          <a:xfrm>
            <a:off x="8001000" y="356616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8001000" y="4608576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Organisations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 = 260 attendees (checked in) · seniority from job titles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742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#ETBWS2025   Brand World Summit 2025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as of 2025-07-05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42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81% of attendees came from brands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Attendees by organisation type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75564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04288" y="2377440"/>
            <a:ext cx="2743200" cy="365760"/>
          </a:xfrm>
          <a:prstGeom prst="rect">
            <a:avLst/>
          </a:prstGeom>
          <a:solidFill>
            <a:srgbClr val="E7425F"/>
          </a:solidFill>
          <a:ln/>
        </p:spPr>
      </p:sp>
      <p:sp>
        <p:nvSpPr>
          <p:cNvPr id="9" name="Text 7"/>
          <p:cNvSpPr/>
          <p:nvPr/>
        </p:nvSpPr>
        <p:spPr>
          <a:xfrm>
            <a:off x="5102352" y="1737360"/>
            <a:ext cx="9326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211 (81%)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175564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04288" y="4023360"/>
            <a:ext cx="637046" cy="365760"/>
          </a:xfrm>
          <a:prstGeom prst="rect">
            <a:avLst/>
          </a:prstGeom>
          <a:solidFill>
            <a:srgbClr val="E7425F"/>
          </a:solidFill>
          <a:ln/>
        </p:spPr>
      </p:sp>
      <p:sp>
        <p:nvSpPr>
          <p:cNvPr id="12" name="Text 10"/>
          <p:cNvSpPr/>
          <p:nvPr/>
        </p:nvSpPr>
        <p:spPr>
          <a:xfrm>
            <a:off x="5102352" y="3383280"/>
            <a:ext cx="9326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49 (19%)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13716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Brands in the room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173736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Lotus Naturals  ·  Crescent Pharma  ·  Kestrel Motors  ·  Quartz Electronics  ·  Tidal Beverages  ·  Pinewood Insurance  ·  Meridian Bank  ·  Saffron Foods  ·  Harbor Telecom  ·  Cedar Home Care  ·  Indigo Retail  ·  Banyan Finance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 = 260 attendees, 15 organisations · organisation type from the companies tab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742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#ETBWS2025   Brand World Summit 2025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as of 2025-07-05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42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sessions, 6.7 hrs of content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Sessions by format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20482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Panel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96896" y="2011680"/>
            <a:ext cx="3200400" cy="365760"/>
          </a:xfrm>
          <a:prstGeom prst="rect">
            <a:avLst/>
          </a:prstGeom>
          <a:solidFill>
            <a:srgbClr val="E7425F"/>
          </a:solidFill>
          <a:ln/>
        </p:spPr>
      </p:sp>
      <p:sp>
        <p:nvSpPr>
          <p:cNvPr id="9" name="Text 7"/>
          <p:cNvSpPr/>
          <p:nvPr/>
        </p:nvSpPr>
        <p:spPr>
          <a:xfrm>
            <a:off x="5861304" y="1737360"/>
            <a:ext cx="10881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20482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Keynote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96896" y="2926080"/>
            <a:ext cx="1600200" cy="365760"/>
          </a:xfrm>
          <a:prstGeom prst="rect">
            <a:avLst/>
          </a:prstGeom>
          <a:solidFill>
            <a:srgbClr val="E7425F"/>
          </a:solidFill>
          <a:ln/>
        </p:spPr>
      </p:sp>
      <p:sp>
        <p:nvSpPr>
          <p:cNvPr id="12" name="Text 10"/>
          <p:cNvSpPr/>
          <p:nvPr/>
        </p:nvSpPr>
        <p:spPr>
          <a:xfrm>
            <a:off x="5861304" y="2651760"/>
            <a:ext cx="10881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566160"/>
            <a:ext cx="20482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96896" y="3840480"/>
            <a:ext cx="1066800" cy="365760"/>
          </a:xfrm>
          <a:prstGeom prst="rect">
            <a:avLst/>
          </a:prstGeom>
          <a:solidFill>
            <a:srgbClr val="E7425F"/>
          </a:solidFill>
          <a:ln/>
        </p:spPr>
      </p:sp>
      <p:sp>
        <p:nvSpPr>
          <p:cNvPr id="15" name="Text 13"/>
          <p:cNvSpPr/>
          <p:nvPr/>
        </p:nvSpPr>
        <p:spPr>
          <a:xfrm>
            <a:off x="5861304" y="3566160"/>
            <a:ext cx="10881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480560"/>
            <a:ext cx="20482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Fireside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96896" y="4754880"/>
            <a:ext cx="1066800" cy="365760"/>
          </a:xfrm>
          <a:prstGeom prst="rect">
            <a:avLst/>
          </a:prstGeom>
          <a:solidFill>
            <a:srgbClr val="E7425F"/>
          </a:solidFill>
          <a:ln/>
        </p:spPr>
      </p:sp>
      <p:sp>
        <p:nvSpPr>
          <p:cNvPr id="18" name="Text 16"/>
          <p:cNvSpPr/>
          <p:nvPr/>
        </p:nvSpPr>
        <p:spPr>
          <a:xfrm>
            <a:off x="5861304" y="4480560"/>
            <a:ext cx="10881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80960" y="146304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FCE8EC"/>
          </a:solidFill>
          <a:ln/>
        </p:spPr>
      </p:sp>
      <p:sp>
        <p:nvSpPr>
          <p:cNvPr id="20" name="Text 18"/>
          <p:cNvSpPr/>
          <p:nvPr/>
        </p:nvSpPr>
        <p:spPr>
          <a:xfrm>
            <a:off x="7818120" y="15544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818120" y="2596896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Sessions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680960" y="347472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FCE8EC"/>
          </a:solidFill>
          <a:ln/>
        </p:spPr>
      </p:sp>
      <p:sp>
        <p:nvSpPr>
          <p:cNvPr id="23" name="Text 21"/>
          <p:cNvSpPr/>
          <p:nvPr/>
        </p:nvSpPr>
        <p:spPr>
          <a:xfrm>
            <a:off x="7818120" y="35661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6.7 hrs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7818120" y="4608576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 content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742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#ETBWS2025   Brand World Summit 2025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as of 2025-07-05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42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74% of speakers were CXOs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Speakers by seniority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CXO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04288" y="2011680"/>
            <a:ext cx="2743200" cy="365760"/>
          </a:xfrm>
          <a:prstGeom prst="rect">
            <a:avLst/>
          </a:prstGeom>
          <a:solidFill>
            <a:srgbClr val="E7425F"/>
          </a:solidFill>
          <a:ln/>
        </p:spPr>
      </p:sp>
      <p:sp>
        <p:nvSpPr>
          <p:cNvPr id="9" name="Text 7"/>
          <p:cNvSpPr/>
          <p:nvPr/>
        </p:nvSpPr>
        <p:spPr>
          <a:xfrm>
            <a:off x="5102352" y="1737360"/>
            <a:ext cx="9326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26 (74%)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04288" y="2926080"/>
            <a:ext cx="422031" cy="365760"/>
          </a:xfrm>
          <a:prstGeom prst="rect">
            <a:avLst/>
          </a:prstGeom>
          <a:solidFill>
            <a:srgbClr val="E7425F"/>
          </a:solidFill>
          <a:ln/>
        </p:spPr>
      </p:sp>
      <p:sp>
        <p:nvSpPr>
          <p:cNvPr id="12" name="Text 10"/>
          <p:cNvSpPr/>
          <p:nvPr/>
        </p:nvSpPr>
        <p:spPr>
          <a:xfrm>
            <a:off x="5102352" y="2651760"/>
            <a:ext cx="9326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(11%)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56616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Director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04288" y="3840480"/>
            <a:ext cx="422031" cy="365760"/>
          </a:xfrm>
          <a:prstGeom prst="rect">
            <a:avLst/>
          </a:prstGeom>
          <a:solidFill>
            <a:srgbClr val="E7425F"/>
          </a:solidFill>
          <a:ln/>
        </p:spPr>
      </p:sp>
      <p:sp>
        <p:nvSpPr>
          <p:cNvPr id="15" name="Text 13"/>
          <p:cNvSpPr/>
          <p:nvPr/>
        </p:nvSpPr>
        <p:spPr>
          <a:xfrm>
            <a:off x="5102352" y="3566160"/>
            <a:ext cx="9326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(11%)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48056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Other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04288" y="4754880"/>
            <a:ext cx="105508" cy="365760"/>
          </a:xfrm>
          <a:prstGeom prst="rect">
            <a:avLst/>
          </a:prstGeom>
          <a:solidFill>
            <a:srgbClr val="E7425F"/>
          </a:solidFill>
          <a:ln/>
        </p:spPr>
      </p:sp>
      <p:sp>
        <p:nvSpPr>
          <p:cNvPr id="18" name="Text 16"/>
          <p:cNvSpPr/>
          <p:nvPr/>
        </p:nvSpPr>
        <p:spPr>
          <a:xfrm>
            <a:off x="5102352" y="4480560"/>
            <a:ext cx="9326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(3%)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13716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 stage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173736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Sanjiv Mehta, Executive Chairman, L Catterton India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Prabha Narasimhan, MD &amp; CEO, Colgate-Palmolive India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Sudhanshu Vats, Managing Director, Pidilite Industries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Rohit Bhasin, President and CMO, Kotak Mahindra Bank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Kapil Grover, CMO, Restaurant Brands Asia (Burger King)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Ashwin Moorthy, CMO, Godrej Consumer Products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Lakshmi Narayanan, CMO, CEAT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Anuradha Aggarwal, Director User Growth and CMO, Amazon Pay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 = 35 speakers · OneWorld speakers / event website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742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#ETBWS2025   Brand World Summit 2025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as of 2025-07-05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42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leaders said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54406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63040"/>
            <a:ext cx="914400" cy="914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83080" y="146304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Sanjiv Mehta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8308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Chairman, L Catterton India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46888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headline: replaced by the approved insight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88036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“Sample quote. The approved, word-for-word excerpt from this leader's session appears here.”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280160"/>
            <a:ext cx="54406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463040"/>
            <a:ext cx="914400" cy="914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06640" y="146304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Prabha Narasimhan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066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MD &amp; CEO, Colgate-Palmolive India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55080" y="246888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headline: replaced by the approved insight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55080" y="288036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“Sample quote. The approved, word-for-word excerpt from this leader's session appears here.”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54406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886200"/>
            <a:ext cx="914400" cy="914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886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783080" y="38862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Rohit Bhasin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783080" y="425196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President and CMO, Kotak Mahindra Bank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489204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headline: replaced by the approved insight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530352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“Sample quote. The approved, word-for-word excerpt from this leader's session appears here.”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72200" y="3703320"/>
            <a:ext cx="54406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3886200"/>
            <a:ext cx="914400" cy="914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3886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06640" y="38862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Kapil Grover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06640" y="425196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CMO, Restaurant Brands Asia (Burger King)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55080" y="489204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headline: replaced by the approved insight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55080" y="530352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“Sample quote. The approved, word-for-word excerpt from this leader's session appears here.”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742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#ETBWS2025   Brand World Summit 2025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as of 2025-07-05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42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 partners across 13 groups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Presenting Partner: Samsung ads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Powered By: Monotype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Co-Powered by: Route Mobile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Association With: Flipkart Ads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Gold Partners: Google Messages, TATA Communication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Silver Partner: Trade Desk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Associate Partners: FROG, Shakuniya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NBFC Fintech Partner: L&amp;T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Outdoor Media Partner: Roshan Space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Exhibitors: ImageKit, Gobble cube, Notify Visitors, oogw.ai, WhilterAi, Big City Promotions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Gifting Partners: Lenskart, fixderma, Good Bug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Creative Partner: Refreshing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Startup Arena Showcase: Analytics LIV, Crewtangle LP, Envigo, FilterYou, POOCHO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742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#ETBWS2025   Brand World Summit 2025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as of 2025-07-05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42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625K impressions and views across 3 platforms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0" y="1463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Pre-event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35040" y="1463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day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LinkedIn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2103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271K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035040" y="2103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Instagram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2743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132K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035040" y="2743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YouTube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3383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69K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035040" y="3383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70K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4023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91840" y="4023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471K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035040" y="4023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154K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Event-day reach ran at 17.3x the pre-event daily average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Daily average on event day ÷ daily average from first event post (2025-05-12) to event start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Platform analytics exports (LinkedIn page, Meta Business Suite, YouTube Studio) · 30 event posts · as of 2025-07-05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742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#ETBWS2025   Brand World Summit 2025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as of 2025-07-05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42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context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₹1,64,137 crore; +7% YoY, digital 60%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Indian advertising market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GroupM TYNY 2025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72200" y="137160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971.5 million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172200" y="22860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Internet users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72200" y="26974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 2025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65760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85,698; +6% a year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48640" y="45720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High-net-worth individuals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9834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Knight Frank 2025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72200" y="365760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$350 billion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72200" y="45720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E-commerce market by 2030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49834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Redseer 2024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742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34747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See you at the 8th edition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40233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#ETBWS2025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ET BrandEquity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 World Summit 2025</dc:title>
  <dc:subject>event=etbe-bws-2025; engine=1.0.0; report=IP</dc:subject>
  <dc:creator>PptxGenJS</dc:creator>
  <cp:lastModifiedBy>PptxGenJS</cp:lastModifiedBy>
  <cp:revision>1</cp:revision>
  <dcterms:created xsi:type="dcterms:W3CDTF">2026-10-06T07:59:07Z</dcterms:created>
  <dcterms:modified xsi:type="dcterms:W3CDTF">2026-10-06T07:59:07Z</dcterms:modified>
</cp:coreProperties>
</file>