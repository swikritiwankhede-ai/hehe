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6C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Northwind Cloud × ETBrandEquity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Northwind Leaders Circle 2025 (sample)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Pilot to Scale: AI in the Enterprise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12–14 Sep 2025 · Sample resort, Goa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Post-event report · v1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Northwind Leaders Circle 2025 (sample)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mandate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Convene 30 CXOs from target accounts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10" name="Text 8"/>
          <p:cNvSpPr/>
          <p:nvPr/>
        </p:nvSpPr>
        <p:spPr>
          <a:xfrm>
            <a:off x="635508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355080" y="219456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the "pilot to scale" narrative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94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438912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relationships beyond the sales cycle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365760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3794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355080" y="438912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conversations into follow-ups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Northwind Leaders Circle 2025 (sample)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 leaders in the room against 30 committed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8580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Leaders in the room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6042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10" name="Text 8"/>
          <p:cNvSpPr/>
          <p:nvPr/>
        </p:nvSpPr>
        <p:spPr>
          <a:xfrm>
            <a:off x="349758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9758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Committed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113%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0936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Against commitment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8398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16" name="Text 14"/>
          <p:cNvSpPr/>
          <p:nvPr/>
        </p:nvSpPr>
        <p:spPr>
          <a:xfrm>
            <a:off x="912114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2114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Programmed touchpoints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580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Content minutes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6042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22" name="Text 20"/>
          <p:cNvSpPr/>
          <p:nvPr/>
        </p:nvSpPr>
        <p:spPr>
          <a:xfrm>
            <a:off x="349758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49758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 of voice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7220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30936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CXOs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8398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E6EDF6"/>
          </a:solidFill>
          <a:ln/>
        </p:spPr>
      </p:sp>
      <p:sp>
        <p:nvSpPr>
          <p:cNvPr id="28" name="Text 26"/>
          <p:cNvSpPr/>
          <p:nvPr/>
        </p:nvSpPr>
        <p:spPr>
          <a:xfrm>
            <a:off x="912114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12114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Sources: room check-in · run-of-show with session owners · signed proposal. Data as of 2025-07-05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Northwind Leaders Circle 2025 (sample)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 of 25 target accounts were in the room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628900" cy="1737360"/>
          </a:xfrm>
          <a:prstGeom prst="roundRect">
            <a:avLst>
              <a:gd name="adj" fmla="val 4211"/>
            </a:avLst>
          </a:prstGeom>
          <a:solidFill>
            <a:srgbClr val="E6EDF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63040"/>
            <a:ext cx="2354580" cy="9555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85800" y="2448763"/>
            <a:ext cx="2354580" cy="5733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accounts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60420" y="1371600"/>
            <a:ext cx="2628900" cy="1737360"/>
          </a:xfrm>
          <a:prstGeom prst="roundRect">
            <a:avLst>
              <a:gd name="adj" fmla="val 4211"/>
            </a:avLst>
          </a:prstGeom>
          <a:solidFill>
            <a:srgbClr val="E6EDF6"/>
          </a:solidFill>
          <a:ln/>
        </p:spPr>
      </p:sp>
      <p:sp>
        <p:nvSpPr>
          <p:cNvPr id="10" name="Text 8"/>
          <p:cNvSpPr/>
          <p:nvPr/>
        </p:nvSpPr>
        <p:spPr>
          <a:xfrm>
            <a:off x="3497580" y="1463040"/>
            <a:ext cx="2354580" cy="9555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97580" y="2448763"/>
            <a:ext cx="2354580" cy="5733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the room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371600"/>
            <a:ext cx="2628900" cy="1737360"/>
          </a:xfrm>
          <a:prstGeom prst="roundRect">
            <a:avLst>
              <a:gd name="adj" fmla="val 4211"/>
            </a:avLst>
          </a:prstGeom>
          <a:solidFill>
            <a:srgbClr val="E6EDF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463040"/>
            <a:ext cx="2354580" cy="9555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09360" y="2448763"/>
            <a:ext cx="2354580" cy="5733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83980" y="1371600"/>
            <a:ext cx="2628900" cy="1737360"/>
          </a:xfrm>
          <a:prstGeom prst="roundRect">
            <a:avLst>
              <a:gd name="adj" fmla="val 4211"/>
            </a:avLst>
          </a:prstGeom>
          <a:solidFill>
            <a:srgbClr val="E6EDF6"/>
          </a:solidFill>
          <a:ln/>
        </p:spPr>
      </p:sp>
      <p:sp>
        <p:nvSpPr>
          <p:cNvPr id="16" name="Text 14"/>
          <p:cNvSpPr/>
          <p:nvPr/>
        </p:nvSpPr>
        <p:spPr>
          <a:xfrm>
            <a:off x="9121140" y="1463040"/>
            <a:ext cx="2354580" cy="9555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21140" y="2448763"/>
            <a:ext cx="2354580" cy="5733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 rate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3832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Accounts met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70332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Aurora Steel  ·  Bluepeak Pharma  ·  Cedarline Motors  ·  Delta Grid Power  ·  Everest Finserv  ·  Falcon Logistics  ·  Granite Cement  ·  Horizon Hospitals  ·  Indus Textiles  ·  Jade Software  ·  Kestrel Airways  ·  Lumen Telecom  ·  Monarch Bank  ·  Nimbus Retail  ·  Orion Chemicals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list agreed with Northwind Cloud · outcomes from the session desk and check-in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Northwind Leaders Circle 2025 (sample)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91% of the room were CXO, VP or Director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141171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CXO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89811" y="2034540"/>
            <a:ext cx="1783080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3508553" y="1737360"/>
            <a:ext cx="606247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 (50%)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1141171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689811" y="2994660"/>
            <a:ext cx="629322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3508553" y="2697480"/>
            <a:ext cx="606247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(18%)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657600"/>
            <a:ext cx="1141171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Director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689811" y="3954780"/>
            <a:ext cx="839096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3508553" y="3657600"/>
            <a:ext cx="606247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(24%)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617720"/>
            <a:ext cx="1141171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Manager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689811" y="4914900"/>
            <a:ext cx="314661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3508553" y="4617720"/>
            <a:ext cx="606247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(9%)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43400" y="1371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43400" y="1737360"/>
            <a:ext cx="114117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Manufacturing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4571" y="1881378"/>
            <a:ext cx="1783080" cy="35204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2" name="Text 20"/>
          <p:cNvSpPr/>
          <p:nvPr/>
        </p:nvSpPr>
        <p:spPr>
          <a:xfrm>
            <a:off x="7303313" y="1737360"/>
            <a:ext cx="60624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(26%)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43400" y="2377440"/>
            <a:ext cx="114117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4571" y="2521458"/>
            <a:ext cx="1386840" cy="35204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7303313" y="2377440"/>
            <a:ext cx="60624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(21%)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43400" y="3017520"/>
            <a:ext cx="114117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Healthcare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4571" y="3161538"/>
            <a:ext cx="990600" cy="35204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303313" y="3017520"/>
            <a:ext cx="60624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(15%)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343400" y="3657600"/>
            <a:ext cx="114117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BFSI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4571" y="3801618"/>
            <a:ext cx="792480" cy="35204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1" name="Text 29"/>
          <p:cNvSpPr/>
          <p:nvPr/>
        </p:nvSpPr>
        <p:spPr>
          <a:xfrm>
            <a:off x="7303313" y="3657600"/>
            <a:ext cx="60624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(12%)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43400" y="4297680"/>
            <a:ext cx="114117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4571" y="4441698"/>
            <a:ext cx="792480" cy="35204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303313" y="4297680"/>
            <a:ext cx="60624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(12%)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343400" y="4937760"/>
            <a:ext cx="114117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Other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4571" y="5081778"/>
            <a:ext cx="990600" cy="35204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7" name="Text 35"/>
          <p:cNvSpPr/>
          <p:nvPr/>
        </p:nvSpPr>
        <p:spPr>
          <a:xfrm>
            <a:off x="7303313" y="4937760"/>
            <a:ext cx="60624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(15%)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38160" y="1371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38160" y="1737360"/>
            <a:ext cx="111191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250070" y="1938528"/>
            <a:ext cx="1737360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1" name="Text 39"/>
          <p:cNvSpPr/>
          <p:nvPr/>
        </p:nvSpPr>
        <p:spPr>
          <a:xfrm>
            <a:off x="11022178" y="1737360"/>
            <a:ext cx="59070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(32%)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38160" y="2505456"/>
            <a:ext cx="111191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West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250070" y="2706624"/>
            <a:ext cx="1737360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4" name="Text 42"/>
          <p:cNvSpPr/>
          <p:nvPr/>
        </p:nvSpPr>
        <p:spPr>
          <a:xfrm>
            <a:off x="11022178" y="2505456"/>
            <a:ext cx="59070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(32%)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138160" y="3273552"/>
            <a:ext cx="111191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250070" y="3474720"/>
            <a:ext cx="947651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7" name="Text 45"/>
          <p:cNvSpPr/>
          <p:nvPr/>
        </p:nvSpPr>
        <p:spPr>
          <a:xfrm>
            <a:off x="11022178" y="3273552"/>
            <a:ext cx="59070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(18%)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138160" y="4041648"/>
            <a:ext cx="111191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East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250070" y="4242816"/>
            <a:ext cx="631767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50" name="Text 48"/>
          <p:cNvSpPr/>
          <p:nvPr/>
        </p:nvSpPr>
        <p:spPr>
          <a:xfrm>
            <a:off x="11022178" y="4041648"/>
            <a:ext cx="59070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(12%)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138160" y="4809744"/>
            <a:ext cx="111191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9250070" y="5010912"/>
            <a:ext cx="315884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53" name="Text 51"/>
          <p:cNvSpPr/>
          <p:nvPr/>
        </p:nvSpPr>
        <p:spPr>
          <a:xfrm>
            <a:off x="11022178" y="4809744"/>
            <a:ext cx="59070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(6%)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 = 34 leaders · seniority from job titles · sector and region from the companies tab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Northwind Leaders Circle 2025 (sample)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Northwind Cloud owned 73% of content minutes (145 of 200)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Sponsor-owned sessions (minutes)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3540557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Northwind Cloud keynote: pilot to scale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89197" y="1889760"/>
            <a:ext cx="1844040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9731959" y="1737360"/>
            <a:ext cx="1880921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min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407920"/>
            <a:ext cx="3540557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Modernising core infrastructure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89197" y="2560320"/>
            <a:ext cx="5532120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9731959" y="2407920"/>
            <a:ext cx="1880921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078480"/>
            <a:ext cx="3540557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Devices for the hybrid workforce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89197" y="3230880"/>
            <a:ext cx="3688080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9731959" y="3078480"/>
            <a:ext cx="1880921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min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749040"/>
            <a:ext cx="3540557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Consumption pricing for AI workloads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089197" y="3901440"/>
            <a:ext cx="2458720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9731959" y="3749040"/>
            <a:ext cx="1880921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min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419600"/>
            <a:ext cx="3540557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real cost of AI at scale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89197" y="4572000"/>
            <a:ext cx="2458720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1" name="Text 19"/>
          <p:cNvSpPr/>
          <p:nvPr/>
        </p:nvSpPr>
        <p:spPr>
          <a:xfrm>
            <a:off x="9731959" y="4419600"/>
            <a:ext cx="1880921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min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090160"/>
            <a:ext cx="3540557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Fast-track deployment programme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089197" y="5242560"/>
            <a:ext cx="1844040" cy="36576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9731959" y="5090160"/>
            <a:ext cx="1880921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min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Run-of-show: sessions tagged by owner; informal blocks excluded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Northwind Leaders Circle 2025 (sample)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of 7 commitments delivered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Event identity and co-branding · All days · committed Yes, delivered Yes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Sponsor keynote · Day 2 · committed 1, delivered 1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Solution sessions · Day 2 · committed 5, delivered 5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Emcee mentions · Day 2 · committed 6, delivered 6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Experiential zone · Day 1–3 · committed 1, delivered 1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On-ground branding · All days · committed 12 assets, delivered 12 assets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Curated gifting · Day 3 · committed 30, delivered 34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Committed: signed proposal · delivered: ops checklist with evidence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Northwind Leaders Circle 2025 (sample)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leaders said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44068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783080" y="155448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Deepa Nair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192024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Chief Information Officer, Delta Grid Power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56032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headline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971800"/>
            <a:ext cx="50749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“Sample quote from a fictional attendee, used to show the layout.”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1371600"/>
            <a:ext cx="544068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55448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5544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06640" y="155448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Aditi Rao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406640" y="192024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Chief Technology Officer, Aurora Steel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256032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headline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55080" y="2971800"/>
            <a:ext cx="50749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“Another sample quote, for layout only.”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Northwind Leaders Circle 2025 (sample)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leaders asked Northwind Cloud to follow up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Aurora Steel: Infrastructure assessment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Cedarline Motors: Pricing workshop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Everest Finserv: Device pilot for 200 users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Granite Cement: AI cost review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Indus Textiles: Executive briefing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Kestrel Airways: Site visit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Northwind Leaders Circle 2025 (sample)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room said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6EDF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630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4.7 / 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85800" y="2505456"/>
            <a:ext cx="3291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Average rating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6EDF6"/>
          </a:solidFill>
          <a:ln/>
        </p:spPr>
      </p:sp>
      <p:sp>
        <p:nvSpPr>
          <p:cNvPr id="10" name="Text 8"/>
          <p:cNvSpPr/>
          <p:nvPr/>
        </p:nvSpPr>
        <p:spPr>
          <a:xfrm>
            <a:off x="4434840" y="14630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34840" y="2505456"/>
            <a:ext cx="3291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Would attend again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E6EDF6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14630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256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= 20 responses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183880" y="2505456"/>
            <a:ext cx="3291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657600"/>
            <a:ext cx="11064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smallest room I have been in with peers who are actually scaling AI.”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Northwind Leaders Circle 2025 (sample)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as of 2025-07-05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was in the room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54864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Aditi Rao · Chief Information Officer, Aurora Steel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Chirag Nair · Chief Digital Officer, Delta Grid Power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Deepa Reddy · CIO, Everest Finserv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Desai · Chief Technology Officer, Bluepeak Pharma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Farhan Shah · Chief Technology Officer, Falcon Logistics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Harsh Menon · Chief Data Officer, Horizon Hospitals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Ira Kapoor · CIO, Aurora Steel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Kabir Bose · Chief Data Officer, Delta Grid Power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Kavya Gupta · CEO, Kestrel Airways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Mira Kapoor · Chief Information Officer, Monarch Bank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Pallavi Bose · Chief Digital Officer, Pinnacle Insurance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Raghav Rao · CIO, Quartz Semiconductors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Ritu Joshi · Chief Information Officer, Yarrow Mobility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Sana Sethi · Chief Technology Officer, Radiant Foods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Uday Nair · Chief Data Officer, Titan Ports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Varun Malhotra · Chief Digital Officer, Beacon Labs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Zoya Pillai · CEO, Willow Agro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217920" y="1280160"/>
            <a:ext cx="54864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Arjun Sethi · Vice President - IT, Bluepeak Pharma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Isha Joshi · VP Engineering, Indus Textiles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Kunal Kulkarni · Vice President - IT, Zenith Media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Leela Rao · VP Engineering, Everest Finserv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Nakul Desai · Vice President - IT, Nimbus Retail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Vani Reddy · VP Engineering, Unity Health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Anika Iyer · Director - Infrastructure, Cedarline Motors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Gauri Pillai · Director - Infrastructure, Granite Cement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Jatin Kulkarni · Director Technology, Jade Software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Lakshay Malhotra · Head of Data, Lumen Telecom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Neil Menon · Head of Data, Xenon Energy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Omkar Sethi · Director Technology, Falcon Logistics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Tara Verma · Director - Infrastructure, Sapphire Realty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Yash Shah · Director Technology, Vertex Analytics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Bhavna Verma · Senior Manager - IT, Cedarline Motors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Ojas Iyer · Senior Manager - IT, Orion Chemicals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Sneha Gupta · Senior Manager - IT, Apex Tyres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6C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34747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 from ETBrandEquity Custom Solutions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0233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ET BrandEquity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 Leaders Circle 2025 (sample)</dc:title>
  <dc:subject>event=etbe-northwind-25; engine=1.0.0; report=Custom</dc:subject>
  <dc:creator>PptxGenJS</dc:creator>
  <cp:lastModifiedBy>PptxGenJS</cp:lastModifiedBy>
  <cp:revision>1</cp:revision>
  <dcterms:created xsi:type="dcterms:W3CDTF">2026-10-06T08:05:07Z</dcterms:created>
  <dcterms:modified xsi:type="dcterms:W3CDTF">2026-10-06T08:05:07Z</dcterms:modified>
</cp:coreProperties>
</file>